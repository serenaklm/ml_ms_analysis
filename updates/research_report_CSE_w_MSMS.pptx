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82" r:id="rId4"/>
    <p:sldId id="283" r:id="rId5"/>
    <p:sldId id="262" r:id="rId6"/>
    <p:sldId id="285" r:id="rId7"/>
    <p:sldId id="274" r:id="rId8"/>
    <p:sldId id="284" r:id="rId9"/>
    <p:sldId id="273" r:id="rId10"/>
    <p:sldId id="281" r:id="rId11"/>
    <p:sldId id="280" r:id="rId12"/>
    <p:sldId id="277" r:id="rId13"/>
    <p:sldId id="276" r:id="rId14"/>
    <p:sldId id="275" r:id="rId15"/>
    <p:sldId id="279" r:id="rId16"/>
    <p:sldId id="260" r:id="rId17"/>
    <p:sldId id="264" r:id="rId18"/>
    <p:sldId id="261" r:id="rId19"/>
    <p:sldId id="266" r:id="rId20"/>
    <p:sldId id="267" r:id="rId21"/>
    <p:sldId id="272" r:id="rId22"/>
    <p:sldId id="269" r:id="rId23"/>
    <p:sldId id="259" r:id="rId24"/>
    <p:sldId id="258" r:id="rId25"/>
    <p:sldId id="270" r:id="rId26"/>
    <p:sldId id="271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0014"/>
    <a:srgbClr val="A04F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00" autoAdjust="0"/>
  </p:normalViewPr>
  <p:slideViewPr>
    <p:cSldViewPr snapToGrid="0">
      <p:cViewPr varScale="1">
        <p:scale>
          <a:sx n="133" d="100"/>
          <a:sy n="133" d="100"/>
        </p:scale>
        <p:origin x="3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118E0-ED1A-42BC-A543-DE616C005F69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9D87F-68AB-44AF-81FD-08CB637F0A3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8811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67A7-7AC6-DA69-E918-E5FD25BC8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17518-E8E1-D2BA-08A9-20333985E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2B715-5F87-6E60-6481-C9DE1DA1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C1896-4443-5512-DDBC-F542B34A3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D984F-F5E3-EF37-B358-DD2CC304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749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19EB-AD37-1E4D-FD08-F4142409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483EC-7463-72FF-61E9-380476AF8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E193C-60D4-E817-508A-030A10B8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0FBC-DB68-4C91-7170-456E330FC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037C5-43C4-EB32-0572-5DEE7BE7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417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B80D-B7AC-986A-B8A9-82D397E4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1E092-06DA-8D44-80FA-698C59AA7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08095-3C63-4A2C-4E66-FAD2E03D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5F243-2460-4282-B36E-F7C66129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C850E-CB62-AE64-87AD-10680327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420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9970-54B6-555B-B3ED-7BA3EC1E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6717-37C2-51F4-8BC9-670D1EEB3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A8A2A-14A0-39CF-0393-D6F158A29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99577-8BB2-DCF1-207D-93667DF2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EC6F6-7828-C686-F69B-83AAC175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ABBC3-771C-0A5D-E04C-D07EB4D0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34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350D-FD82-6CA7-DF64-345106DB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53547-C459-3B42-B7CA-AD756217D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0179E-3A04-611D-A732-810C5D8D4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1E970-49FA-852D-496B-5572A5E1B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364C3-D11A-1C1B-7A88-C36F59C04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1C3C1-E36E-052F-AC9D-12B3548A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2DA89-B110-2955-84DE-0B7AA163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F9A38-2500-2783-5E61-CEF125DB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58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E3CE-6535-06CA-9D4D-EF8583FA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6D47F-A51D-975E-6633-C3409317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0E4BB-BD59-FEAC-53C5-70101291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7B65F-63EF-ABF9-B38E-2BE6CED9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388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885A0-C590-37AD-7745-4457DD657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98015-C3A7-02BA-3466-E926691A5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4C1DE-9CB2-8101-2592-46C42DC3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869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59CB-94F5-2774-A019-E0A0690B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F3FC4-FAC2-7BA5-0555-213C30D39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4BBFD-2DFB-B2CA-A604-B298A251F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B0153-E67F-ECA3-96DE-640E99E2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96416-9835-4583-EA3A-390ED0DC8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784E6-679E-A4D0-804D-E38A8E21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717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CC782-2906-5C97-E965-CE621B7B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71802E-2422-58B1-C73B-9494F60E4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52142-6543-BFAE-FBCE-D93321267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8812E-0A0C-CB99-40FB-AA97B9C1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1DFBF-C1BB-9CC8-3F7D-80EEFEC9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B9C9A-2F3A-EBA1-289F-EBA7102E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71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0333-4A44-3BC4-AE95-FFC6B3AA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5840F-A808-B792-0FA4-5596C144D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3BAE3-2221-F967-D0E7-FB8B4B1DE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81861-7758-306C-9AB6-BEB16255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02E90-49FA-6A0A-6E5E-6D05722C8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9063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BA35A-1FF2-D279-B1CE-67AD8553D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FFD4C-1472-8BB1-199D-D11269FFF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2192C-6463-0947-95A0-78A7FE8CA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1DC42-5B5A-5977-99D1-2F0352B5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340CA-D27C-17C1-B322-646BD7CC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675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0099A-3618-BBED-A8DF-04934F09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FAB6C-8787-1AC0-31D9-15A017E63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5DA12-85C7-196E-ABDA-AE08D9EDE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8EA75-2CC2-47EA-BA91-C0FBA2F162B1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0860A-BAC6-F994-4E2E-BE8555420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ACA45-AA80-FDE6-041A-12EE692E2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14FD9-20D3-4595-B649-6ABD3177B81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353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5F2D-515F-7212-06B4-AF5AF9CDD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Research Updates</a:t>
            </a:r>
          </a:p>
        </p:txBody>
      </p:sp>
    </p:spTree>
    <p:extLst>
      <p:ext uri="{BB962C8B-B14F-4D97-AF65-F5344CB8AC3E}">
        <p14:creationId xmlns:p14="http://schemas.microsoft.com/office/powerpoint/2010/main" val="3141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AE0B-F10F-B33B-2415-5AAE037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Understanding the Limits of Modelling MSMS with ML</a:t>
            </a:r>
          </a:p>
        </p:txBody>
      </p:sp>
    </p:spTree>
    <p:extLst>
      <p:ext uri="{BB962C8B-B14F-4D97-AF65-F5344CB8AC3E}">
        <p14:creationId xmlns:p14="http://schemas.microsoft.com/office/powerpoint/2010/main" val="416111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4DB66-97BE-2405-492A-4C903824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Resolution Liquid Chromatography - Mass Spectrometry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DAF4B-464E-65D7-9B7E-BD152C6F6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02124"/>
                </a:solidFill>
              </a:rPr>
              <a:t>An a</a:t>
            </a:r>
            <a:r>
              <a:rPr lang="en-US" b="0" i="0" dirty="0">
                <a:solidFill>
                  <a:srgbClr val="202124"/>
                </a:solidFill>
                <a:effectLst/>
              </a:rPr>
              <a:t>nalytical technique used for separation, identification, and quantification of both unknown and known compounds</a:t>
            </a:r>
          </a:p>
          <a:p>
            <a:pPr lvl="1"/>
            <a:r>
              <a:rPr lang="en-US" b="1" i="1" dirty="0">
                <a:solidFill>
                  <a:srgbClr val="202124"/>
                </a:solidFill>
                <a:effectLst/>
              </a:rPr>
              <a:t>Elucidate</a:t>
            </a:r>
            <a:r>
              <a:rPr lang="en-US" b="0" i="0" dirty="0">
                <a:solidFill>
                  <a:srgbClr val="202124"/>
                </a:solidFill>
                <a:effectLst/>
              </a:rPr>
              <a:t> </a:t>
            </a:r>
            <a:r>
              <a:rPr lang="en-US" b="1" i="1" dirty="0">
                <a:solidFill>
                  <a:srgbClr val="202124"/>
                </a:solidFill>
                <a:effectLst/>
              </a:rPr>
              <a:t>the structure</a:t>
            </a:r>
            <a:r>
              <a:rPr lang="en-US" b="0" i="0" dirty="0">
                <a:solidFill>
                  <a:srgbClr val="202124"/>
                </a:solidFill>
                <a:effectLst/>
              </a:rPr>
              <a:t> and chemical properties </a:t>
            </a:r>
            <a:r>
              <a:rPr lang="en-US" b="1" i="1" dirty="0">
                <a:solidFill>
                  <a:srgbClr val="202124"/>
                </a:solidFill>
                <a:effectLst/>
              </a:rPr>
              <a:t>of different molecules</a:t>
            </a:r>
          </a:p>
          <a:p>
            <a:pPr lvl="1"/>
            <a:r>
              <a:rPr lang="en-US" dirty="0"/>
              <a:t>Applications: screening for drugs, identifying toxins in the environment, and detecting certain metabolic disorders in infants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6254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6110-3D41-5F66-56DB-008641CBD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Paper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25402-75BE-135B-B64B-0CA1F4ABC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Paper outline: </a:t>
            </a:r>
          </a:p>
          <a:p>
            <a:pPr lvl="1"/>
            <a:r>
              <a:rPr lang="en-SG" dirty="0"/>
              <a:t>Description of current workflows / methods for performing structural elucidation</a:t>
            </a:r>
          </a:p>
          <a:p>
            <a:pPr lvl="1"/>
            <a:r>
              <a:rPr lang="en-SG" dirty="0"/>
              <a:t>Consolidation and quantification of previously highlighted limitations of ML methods to perform chemical structure elucidation given MS</a:t>
            </a:r>
          </a:p>
          <a:p>
            <a:pPr lvl="1"/>
            <a:r>
              <a:rPr lang="en-SG" dirty="0"/>
              <a:t>Identification of other questions related to understanding the performance of ML for MS </a:t>
            </a:r>
          </a:p>
          <a:p>
            <a:pPr lvl="1"/>
            <a:r>
              <a:rPr lang="en-SG" dirty="0"/>
              <a:t>Possible way forward to modelling MS with ML</a:t>
            </a:r>
          </a:p>
          <a:p>
            <a:pPr lvl="1"/>
            <a:endParaRPr lang="en-SG" dirty="0"/>
          </a:p>
          <a:p>
            <a:pPr marL="0" indent="0">
              <a:buNone/>
            </a:pPr>
            <a:endParaRPr lang="en-SG" dirty="0"/>
          </a:p>
          <a:p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297924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4D974-D378-BC91-1E3C-4C0097F6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Current Workflow for ML Methods for 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0DCD4-C197-B01A-0C34-F9A990D03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379" y="1570547"/>
            <a:ext cx="8260200" cy="458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52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A984A-3396-6833-2957-70F21C3F9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Dataset used for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D9A83-E2A0-98E0-4657-C530811C1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Consolidation of datasets from four different sources: 1. GNPS, 2. </a:t>
            </a:r>
            <a:r>
              <a:rPr lang="en-SG" dirty="0" err="1"/>
              <a:t>Massbank</a:t>
            </a:r>
            <a:r>
              <a:rPr lang="en-SG" dirty="0"/>
              <a:t>, 3. Mona and 4. dataset from Roman</a:t>
            </a:r>
          </a:p>
        </p:txBody>
      </p:sp>
    </p:spTree>
    <p:extLst>
      <p:ext uri="{BB962C8B-B14F-4D97-AF65-F5344CB8AC3E}">
        <p14:creationId xmlns:p14="http://schemas.microsoft.com/office/powerpoint/2010/main" val="27458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9F22-E773-694A-132A-1F1959BE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24E1-CC66-F7AB-2986-3A9BB15C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b="1" dirty="0"/>
              <a:t>Claim: </a:t>
            </a:r>
            <a:r>
              <a:rPr lang="en-SG" dirty="0"/>
              <a:t>Limited reference MS/MS is a key problem with the lack of ability to elucidate MS</a:t>
            </a:r>
          </a:p>
          <a:p>
            <a:pPr lvl="1"/>
            <a:r>
              <a:rPr lang="en-SG" dirty="0"/>
              <a:t>Different experiment platforms can lead to different fragmentation patterns, leading to difficulty in matching MS </a:t>
            </a:r>
          </a:p>
          <a:p>
            <a:pPr lvl="1"/>
            <a:r>
              <a:rPr lang="en-SG" dirty="0"/>
              <a:t>There is a strong dataset bias towards [M+H]+ or [M-H]- ions leading to 95% of unidentified spectra</a:t>
            </a:r>
          </a:p>
        </p:txBody>
      </p:sp>
    </p:spTree>
    <p:extLst>
      <p:ext uri="{BB962C8B-B14F-4D97-AF65-F5344CB8AC3E}">
        <p14:creationId xmlns:p14="http://schemas.microsoft.com/office/powerpoint/2010/main" val="2975210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01FD-7A08-B286-3432-72B45093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Percentage of mismatched 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C2C3A-7583-2EA9-1101-700261DCC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b="1" dirty="0"/>
              <a:t>Research Question: </a:t>
            </a:r>
          </a:p>
          <a:p>
            <a:pPr lvl="1"/>
            <a:r>
              <a:rPr lang="en-SG" dirty="0"/>
              <a:t>How many percent of mismatched MS is due to limited reference MS/MS?</a:t>
            </a:r>
          </a:p>
          <a:p>
            <a:pPr lvl="1"/>
            <a:r>
              <a:rPr lang="en-SG" dirty="0"/>
              <a:t>How many percent of MS can still be matched even when the platforms are different? </a:t>
            </a:r>
          </a:p>
          <a:p>
            <a:pPr lvl="1"/>
            <a:r>
              <a:rPr lang="en-SG" dirty="0"/>
              <a:t>Can learnt embeddings (spec2vec) alleviate this problem?</a:t>
            </a:r>
          </a:p>
          <a:p>
            <a:pPr lvl="1"/>
            <a:r>
              <a:rPr lang="en-SG" dirty="0"/>
              <a:t>How else can we alleviate this problem?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3861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6110-3D41-5F66-56DB-008641CBD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Paper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25402-75BE-135B-B64B-0CA1F4ABC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This paper first explores some of the limitations of ML for MS that were pointed by previous papers</a:t>
            </a:r>
          </a:p>
          <a:p>
            <a:r>
              <a:rPr lang="en-SG" dirty="0"/>
              <a:t>This paper then explores some other important questions: </a:t>
            </a:r>
          </a:p>
          <a:p>
            <a:pPr lvl="1"/>
            <a:r>
              <a:rPr lang="en-SG" b="1" dirty="0"/>
              <a:t>Is there an issue with the current workflow: the current workflow of ML to modelling MS is one of the following:</a:t>
            </a:r>
          </a:p>
          <a:p>
            <a:pPr lvl="2"/>
            <a:r>
              <a:rPr lang="en-SG" dirty="0"/>
              <a:t>First learn an embedding for the MS and molecule and match them OR </a:t>
            </a:r>
          </a:p>
          <a:p>
            <a:pPr lvl="2"/>
            <a:r>
              <a:rPr lang="en-SG" dirty="0"/>
              <a:t>First learn to predict the molecular FP to represent the molecule then match against DB</a:t>
            </a:r>
          </a:p>
          <a:p>
            <a:pPr lvl="2"/>
            <a:r>
              <a:rPr lang="en-SG" dirty="0"/>
              <a:t>Directly generate the molecule from the MS </a:t>
            </a:r>
          </a:p>
          <a:p>
            <a:pPr lvl="1"/>
            <a:r>
              <a:rPr lang="en-SG" b="1" dirty="0"/>
              <a:t>Modelling choice: is the ability to perform partial annotation helpful for elucidation?</a:t>
            </a:r>
          </a:p>
          <a:p>
            <a:pPr lvl="1"/>
            <a:r>
              <a:rPr lang="en-SG" b="1" dirty="0"/>
              <a:t>What causes generalization gap? Are we able to transfer across different chemical ontology? </a:t>
            </a:r>
          </a:p>
          <a:p>
            <a:pPr lvl="1"/>
            <a:r>
              <a:rPr lang="en-SG" b="1" dirty="0"/>
              <a:t>Is the lack of data the key reason for poor performance? Can synthetic data be used for this case? </a:t>
            </a:r>
          </a:p>
          <a:p>
            <a:pPr lvl="1"/>
            <a:r>
              <a:rPr lang="en-SG" b="1" dirty="0"/>
              <a:t>Is noise the reason for poor performance?</a:t>
            </a:r>
          </a:p>
        </p:txBody>
      </p:sp>
    </p:spTree>
    <p:extLst>
      <p:ext uri="{BB962C8B-B14F-4D97-AF65-F5344CB8AC3E}">
        <p14:creationId xmlns:p14="http://schemas.microsoft.com/office/powerpoint/2010/main" val="1395867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1FAA-EB8F-6CA5-728B-D85086D5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BAD52-8053-16C4-E969-E44A8CA82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General finding: </a:t>
            </a:r>
          </a:p>
          <a:p>
            <a:pPr lvl="1"/>
            <a:r>
              <a:rPr lang="en-SG" dirty="0"/>
              <a:t>Difficult to generalize across platforms </a:t>
            </a:r>
          </a:p>
          <a:p>
            <a:pPr lvl="1"/>
            <a:r>
              <a:rPr lang="en-SG" dirty="0"/>
              <a:t>Difficult to generalize across chemical classes based on </a:t>
            </a:r>
            <a:r>
              <a:rPr lang="en-SG" dirty="0" err="1"/>
              <a:t>cassyfire</a:t>
            </a:r>
            <a:r>
              <a:rPr lang="en-SG" dirty="0"/>
              <a:t> ontology </a:t>
            </a:r>
          </a:p>
          <a:p>
            <a:r>
              <a:rPr lang="en-SG" dirty="0"/>
              <a:t>To-do: </a:t>
            </a:r>
          </a:p>
          <a:p>
            <a:pPr lvl="1"/>
            <a:r>
              <a:rPr lang="en-SG" dirty="0"/>
              <a:t>Does adding of pseudo MS to the training set cause a reduction in generalization gap?</a:t>
            </a:r>
          </a:p>
        </p:txBody>
      </p:sp>
    </p:spTree>
    <p:extLst>
      <p:ext uri="{BB962C8B-B14F-4D97-AF65-F5344CB8AC3E}">
        <p14:creationId xmlns:p14="http://schemas.microsoft.com/office/powerpoint/2010/main" val="3867016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1FAA-EB8F-6CA5-728B-D85086D5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BAD52-8053-16C4-E969-E44A8CA82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[WIP] 0% of the MS can be matched at recall at 1 when we look up against DB of different platform </a:t>
            </a:r>
          </a:p>
          <a:p>
            <a:r>
              <a:rPr lang="en-SG" dirty="0"/>
              <a:t>Learning molecular FP with different methods to represent MS:</a:t>
            </a:r>
          </a:p>
          <a:p>
            <a:pPr marL="0" indent="0">
              <a:buNone/>
            </a:pP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586B77-06E4-855C-31FE-C595784E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34772"/>
              </p:ext>
            </p:extLst>
          </p:nvPr>
        </p:nvGraphicFramePr>
        <p:xfrm>
          <a:off x="1196427" y="3445034"/>
          <a:ext cx="98709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742">
                  <a:extLst>
                    <a:ext uri="{9D8B030D-6E8A-4147-A177-3AD203B41FA5}">
                      <a16:colId xmlns:a16="http://schemas.microsoft.com/office/drawing/2014/main" val="267800791"/>
                    </a:ext>
                  </a:extLst>
                </a:gridCol>
                <a:gridCol w="2467742">
                  <a:extLst>
                    <a:ext uri="{9D8B030D-6E8A-4147-A177-3AD203B41FA5}">
                      <a16:colId xmlns:a16="http://schemas.microsoft.com/office/drawing/2014/main" val="3038410465"/>
                    </a:ext>
                  </a:extLst>
                </a:gridCol>
                <a:gridCol w="2467742">
                  <a:extLst>
                    <a:ext uri="{9D8B030D-6E8A-4147-A177-3AD203B41FA5}">
                      <a16:colId xmlns:a16="http://schemas.microsoft.com/office/drawing/2014/main" val="3578980945"/>
                    </a:ext>
                  </a:extLst>
                </a:gridCol>
                <a:gridCol w="2467742">
                  <a:extLst>
                    <a:ext uri="{9D8B030D-6E8A-4147-A177-3AD203B41FA5}">
                      <a16:colId xmlns:a16="http://schemas.microsoft.com/office/drawing/2014/main" val="1983315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Recall at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Recall at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Recall at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87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Binned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23.4%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70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Spec2vec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50.5%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38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Spec2vec + Pseudo MS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53.2%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799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701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9F22-E773-694A-132A-1F1959BE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24E1-CC66-F7AB-2986-3A9BB15C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SG" b="1" dirty="0"/>
              <a:t>Claim: </a:t>
            </a:r>
            <a:r>
              <a:rPr lang="en-US" dirty="0"/>
              <a:t>Difficulty in resolving molecules with higher molecular masses </a:t>
            </a:r>
          </a:p>
          <a:p>
            <a:pPr lvl="1"/>
            <a:r>
              <a:rPr lang="en-SG" dirty="0"/>
              <a:t>Parent masses of the MS/MS spectra in the GPNS library show a clear bias towards lower masses; This might explain why around 14,000 MS/MS spectra in GNPS do not have a fully resolved structure </a:t>
            </a:r>
            <a:endParaRPr lang="en-US" dirty="0"/>
          </a:p>
          <a:p>
            <a:pPr lvl="1"/>
            <a:r>
              <a:rPr lang="en-SG" dirty="0"/>
              <a:t>Canopus were restricted to spectra below 860Da and Spec2vec only works well for spectra below 600Da</a:t>
            </a:r>
            <a:endParaRPr lang="en-US" dirty="0"/>
          </a:p>
          <a:p>
            <a:r>
              <a:rPr lang="en-SG" b="1" dirty="0"/>
              <a:t>Research Question:</a:t>
            </a:r>
          </a:p>
          <a:p>
            <a:pPr lvl="1"/>
            <a:r>
              <a:rPr lang="en-SG" dirty="0"/>
              <a:t>What is causing the difficulty in resolving molecules with higher molecular messes?</a:t>
            </a:r>
          </a:p>
          <a:p>
            <a:pPr lvl="2"/>
            <a:r>
              <a:rPr lang="en-SG" dirty="0"/>
              <a:t>Is it purely due to the lack of data?</a:t>
            </a:r>
          </a:p>
          <a:p>
            <a:pPr lvl="1"/>
            <a:r>
              <a:rPr lang="en-SG" dirty="0"/>
              <a:t>Can this be due to more noise in the MS rather than not having sufficient data?</a:t>
            </a:r>
          </a:p>
        </p:txBody>
      </p:sp>
    </p:spTree>
    <p:extLst>
      <p:ext uri="{BB962C8B-B14F-4D97-AF65-F5344CB8AC3E}">
        <p14:creationId xmlns:p14="http://schemas.microsoft.com/office/powerpoint/2010/main" val="173816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9F22-E773-694A-132A-1F1959BE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24E1-CC66-F7AB-2986-3A9BB15C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Claim: </a:t>
            </a:r>
            <a:r>
              <a:rPr lang="en-SG" dirty="0"/>
              <a:t>Cleaning up spectra </a:t>
            </a:r>
          </a:p>
          <a:p>
            <a:pPr lvl="1"/>
            <a:r>
              <a:rPr lang="en-SG" dirty="0"/>
              <a:t>GNPS tend towards larger numbers of high entropy spectra due to higher spectral noise </a:t>
            </a:r>
          </a:p>
          <a:p>
            <a:r>
              <a:rPr lang="en-SG" b="1" dirty="0"/>
              <a:t>Research Question: </a:t>
            </a:r>
          </a:p>
          <a:p>
            <a:pPr lvl="1"/>
            <a:r>
              <a:rPr lang="en-SG" dirty="0"/>
              <a:t>How much does spectra noise affect lookup performance?</a:t>
            </a:r>
          </a:p>
          <a:p>
            <a:pPr lvl="1"/>
            <a:r>
              <a:rPr lang="en-SG" dirty="0"/>
              <a:t>Getting fragmentation tree; how does noise affect the ability to get trees? Can we quantify that?</a:t>
            </a:r>
          </a:p>
        </p:txBody>
      </p:sp>
    </p:spTree>
    <p:extLst>
      <p:ext uri="{BB962C8B-B14F-4D97-AF65-F5344CB8AC3E}">
        <p14:creationId xmlns:p14="http://schemas.microsoft.com/office/powerpoint/2010/main" val="2889039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9F22-E773-694A-132A-1F1959BE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24E1-CC66-F7AB-2986-3A9BB15C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SG" b="1" dirty="0"/>
              <a:t>Claim: </a:t>
            </a:r>
            <a:r>
              <a:rPr lang="en-SG" dirty="0"/>
              <a:t>Dark matters and generalizability</a:t>
            </a:r>
          </a:p>
          <a:p>
            <a:pPr lvl="1"/>
            <a:r>
              <a:rPr lang="en-SG" dirty="0"/>
              <a:t>Lose substantial structural information when converting to bit strings</a:t>
            </a:r>
          </a:p>
          <a:p>
            <a:pPr lvl="1"/>
            <a:r>
              <a:rPr lang="en-SG" dirty="0"/>
              <a:t>Similarity values when comparing large and small structures have very different behaviours</a:t>
            </a:r>
          </a:p>
          <a:p>
            <a:pPr lvl="1"/>
            <a:r>
              <a:rPr lang="en-SG" dirty="0"/>
              <a:t>Different bits have different discriminating power; “good bits” are bits that help to differentiate molecules and have high amount of training instances</a:t>
            </a:r>
            <a:endParaRPr lang="en-SG" b="1" dirty="0"/>
          </a:p>
          <a:p>
            <a:r>
              <a:rPr lang="en-SG" b="1" dirty="0"/>
              <a:t>Research Question: </a:t>
            </a:r>
          </a:p>
        </p:txBody>
      </p:sp>
    </p:spTree>
    <p:extLst>
      <p:ext uri="{BB962C8B-B14F-4D97-AF65-F5344CB8AC3E}">
        <p14:creationId xmlns:p14="http://schemas.microsoft.com/office/powerpoint/2010/main" val="429978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9F22-E773-694A-132A-1F1959BE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24E1-CC66-F7AB-2986-3A9BB15C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SG" b="1" dirty="0"/>
              <a:t>Claim: </a:t>
            </a:r>
            <a:r>
              <a:rPr lang="en-SG" dirty="0"/>
              <a:t>Molecular fingerprints are limited in representing molecules</a:t>
            </a:r>
            <a:r>
              <a:rPr kumimoji="0" lang="en-SG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1,2</a:t>
            </a:r>
            <a:endParaRPr lang="en-SG" dirty="0"/>
          </a:p>
          <a:p>
            <a:pPr lvl="1"/>
            <a:r>
              <a:rPr lang="en-SG" dirty="0"/>
              <a:t>Lose substantial structural information when converting to bit strings</a:t>
            </a:r>
          </a:p>
          <a:p>
            <a:pPr lvl="1"/>
            <a:r>
              <a:rPr lang="en-SG" dirty="0"/>
              <a:t>Similarity values when comparing large and small structures have very different behaviours</a:t>
            </a:r>
          </a:p>
          <a:p>
            <a:pPr lvl="1"/>
            <a:r>
              <a:rPr lang="en-SG" dirty="0"/>
              <a:t>Different bits have different discriminating power; “good bits” are bits that help to differentiate molecules and have high amount of training instances</a:t>
            </a:r>
            <a:endParaRPr lang="en-SG" b="1" dirty="0"/>
          </a:p>
          <a:p>
            <a:r>
              <a:rPr lang="en-SG" b="1" dirty="0"/>
              <a:t>Research Question: </a:t>
            </a:r>
          </a:p>
        </p:txBody>
      </p:sp>
    </p:spTree>
    <p:extLst>
      <p:ext uri="{BB962C8B-B14F-4D97-AF65-F5344CB8AC3E}">
        <p14:creationId xmlns:p14="http://schemas.microsoft.com/office/powerpoint/2010/main" val="1477351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A513-1EC8-7107-C8B0-F9E75B97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Limitation of ML methods; Consolidated Arguments Made by Other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2B8A0-78DA-4D85-3B0E-87579D10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dirty="0">
                <a:solidFill>
                  <a:srgbClr val="FF0000"/>
                </a:solidFill>
              </a:rPr>
              <a:t>Dataset</a:t>
            </a:r>
            <a:r>
              <a:rPr lang="en-SG" dirty="0"/>
              <a:t> bias</a:t>
            </a:r>
            <a:r>
              <a:rPr kumimoji="0" lang="en-SG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1,3</a:t>
            </a:r>
            <a:endParaRPr lang="en-SG" sz="1000" dirty="0"/>
          </a:p>
          <a:p>
            <a:pPr lvl="1"/>
            <a:r>
              <a:rPr lang="en-SG" dirty="0"/>
              <a:t>For ML models to be helpful, training datasets need to be subsets of known biomolecular structures and need to contain all the compound classes based on the </a:t>
            </a:r>
            <a:r>
              <a:rPr lang="en-SG" dirty="0" err="1"/>
              <a:t>ClassyFire</a:t>
            </a:r>
            <a:r>
              <a:rPr lang="en-SG" dirty="0"/>
              <a:t> </a:t>
            </a:r>
            <a:r>
              <a:rPr lang="en-SG" dirty="0" err="1"/>
              <a:t>ChemOnt</a:t>
            </a:r>
            <a:r>
              <a:rPr lang="en-SG" dirty="0"/>
              <a:t> ontology</a:t>
            </a:r>
          </a:p>
          <a:p>
            <a:pPr lvl="1"/>
            <a:r>
              <a:rPr lang="en-SG" dirty="0"/>
              <a:t>There is a strong dataset bias towards [M+H]+ or [M-H]- ions leading to 95% of unidentified spectra 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>
                <a:solidFill>
                  <a:srgbClr val="FF0000"/>
                </a:solidFill>
              </a:rPr>
              <a:t>Limited</a:t>
            </a:r>
            <a:r>
              <a:rPr lang="en-SG" dirty="0"/>
              <a:t> reference MS/MS data</a:t>
            </a:r>
          </a:p>
          <a:p>
            <a:pPr lvl="1"/>
            <a:r>
              <a:rPr lang="en-SG" dirty="0"/>
              <a:t>The effectiveness of this method is contingent on the quality of the generated MS/MS spectra; the effectiveness of this method was displayed in </a:t>
            </a:r>
            <a:r>
              <a:rPr lang="en-SG" dirty="0" err="1"/>
              <a:t>MassGenie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84136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A513-1EC8-7107-C8B0-F9E75B97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Limitation of ML methods; Consolidated Arguments Made by Other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2B8A0-78DA-4D85-3B0E-87579D10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  <a:defRPr/>
            </a:pPr>
            <a:r>
              <a:rPr lang="en-SG" dirty="0"/>
              <a:t>Molecular fingerprints are limited in representing molecules</a:t>
            </a:r>
            <a:r>
              <a:rPr kumimoji="0" lang="en-SG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1,2</a:t>
            </a:r>
            <a:endParaRPr lang="en-SG" dirty="0"/>
          </a:p>
          <a:p>
            <a:pPr lvl="1"/>
            <a:r>
              <a:rPr lang="en-SG" dirty="0"/>
              <a:t>Lose substantial structural information when converting to bit strings</a:t>
            </a:r>
          </a:p>
          <a:p>
            <a:pPr lvl="1"/>
            <a:r>
              <a:rPr lang="en-SG" dirty="0"/>
              <a:t>Similarity values when comparing large and small structures have very different behaviours</a:t>
            </a:r>
          </a:p>
          <a:p>
            <a:pPr lvl="1"/>
            <a:r>
              <a:rPr lang="en-SG" dirty="0"/>
              <a:t>Different bits have different discriminating power; “good bits” are bits that help to differentiate molecules and have high amount of training instances</a:t>
            </a:r>
          </a:p>
        </p:txBody>
      </p:sp>
    </p:spTree>
    <p:extLst>
      <p:ext uri="{BB962C8B-B14F-4D97-AF65-F5344CB8AC3E}">
        <p14:creationId xmlns:p14="http://schemas.microsoft.com/office/powerpoint/2010/main" val="2435509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A513-1EC8-7107-C8B0-F9E75B97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Limitation of ML methods; Consolidated Arguments Made by Other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2B8A0-78DA-4D85-3B0E-87579D10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SG" dirty="0">
                <a:solidFill>
                  <a:srgbClr val="FF0000"/>
                </a:solidFill>
              </a:rPr>
              <a:t>Different </a:t>
            </a:r>
            <a:r>
              <a:rPr lang="en-SG" dirty="0"/>
              <a:t>experiment platforms can lead to different fragmentation patterns – this leads to difficulty in matching MS </a:t>
            </a:r>
          </a:p>
          <a:p>
            <a:pPr lvl="1"/>
            <a:r>
              <a:rPr lang="en-SG" dirty="0"/>
              <a:t>This problem can be alleviated by partial annotation. </a:t>
            </a:r>
            <a:r>
              <a:rPr lang="en-SG" dirty="0" err="1"/>
              <a:t>I.e</a:t>
            </a:r>
            <a:r>
              <a:rPr lang="en-SG" dirty="0"/>
              <a:t>, peak annotation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SG" dirty="0">
                <a:solidFill>
                  <a:srgbClr val="FF0000"/>
                </a:solidFill>
              </a:rPr>
              <a:t>Cleaning up </a:t>
            </a:r>
            <a:r>
              <a:rPr lang="en-SG" dirty="0"/>
              <a:t>spectra </a:t>
            </a:r>
          </a:p>
          <a:p>
            <a:pPr lvl="1"/>
            <a:r>
              <a:rPr lang="en-SG" dirty="0"/>
              <a:t>GNPS tend towards larger numbers of high entropy spectra due to higher spectral noise </a:t>
            </a:r>
          </a:p>
          <a:p>
            <a:pPr lvl="1"/>
            <a:r>
              <a:rPr lang="en-SG" dirty="0"/>
              <a:t>Most papers suggest a simple thresholding method to remove any signals with less than x% of intensity (typically 1% or 5%)</a:t>
            </a:r>
          </a:p>
        </p:txBody>
      </p:sp>
    </p:spTree>
    <p:extLst>
      <p:ext uri="{BB962C8B-B14F-4D97-AF65-F5344CB8AC3E}">
        <p14:creationId xmlns:p14="http://schemas.microsoft.com/office/powerpoint/2010/main" val="853419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A513-1EC8-7107-C8B0-F9E75B97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Limitation of ML methods; Consolidated Arguments Made by Other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2B8A0-78DA-4D85-3B0E-87579D10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SG" dirty="0">
                <a:solidFill>
                  <a:srgbClr val="FF0000"/>
                </a:solidFill>
              </a:rPr>
              <a:t>Difficulty</a:t>
            </a:r>
            <a:r>
              <a:rPr lang="en-SG" dirty="0"/>
              <a:t> in resolving molecules with higher molecular masses </a:t>
            </a:r>
          </a:p>
          <a:p>
            <a:pPr lvl="1"/>
            <a:r>
              <a:rPr lang="en-SG" dirty="0"/>
              <a:t>Parent masses of the MS/MS spectra in the GPNS library show a clear bias towards lower masses. </a:t>
            </a:r>
          </a:p>
          <a:p>
            <a:pPr lvl="1"/>
            <a:r>
              <a:rPr lang="en-SG" dirty="0"/>
              <a:t>This might explain why around 14,000 MS/MS spectra in GNPS do not have a fully resolved structure </a:t>
            </a:r>
          </a:p>
          <a:p>
            <a:pPr lvl="1"/>
            <a:r>
              <a:rPr lang="en-SG" dirty="0"/>
              <a:t>Canopus were restricted to spectra below 860Da and Spec2vec only works well for spectra below 600Da</a:t>
            </a:r>
          </a:p>
        </p:txBody>
      </p:sp>
    </p:spTree>
    <p:extLst>
      <p:ext uri="{BB962C8B-B14F-4D97-AF65-F5344CB8AC3E}">
        <p14:creationId xmlns:p14="http://schemas.microsoft.com/office/powerpoint/2010/main" val="398636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8766-8956-19FE-6405-460A3B00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Limitation of ML methods; Consolidated Arguments Made by Other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57998-3563-3CD0-AFF7-9EA5762D7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</a:pPr>
            <a:r>
              <a:rPr lang="en-SG" dirty="0"/>
              <a:t>Benchmarking (train and test sets) </a:t>
            </a:r>
          </a:p>
          <a:p>
            <a:pPr lvl="1"/>
            <a:r>
              <a:rPr lang="en-SG" dirty="0"/>
              <a:t>The dataset to be used VS the metrics to be used </a:t>
            </a:r>
          </a:p>
          <a:p>
            <a:pPr lvl="1"/>
            <a:r>
              <a:rPr lang="en-SG" dirty="0"/>
              <a:t>Could try to study how generalizable the models are vs how well it works for a specific subset </a:t>
            </a:r>
          </a:p>
          <a:p>
            <a:pPr lvl="1"/>
            <a:r>
              <a:rPr lang="en-SG" dirty="0"/>
              <a:t>Groups for sampling could include chemical classes, mass taxonomic clades, instruments, analytical methods </a:t>
            </a:r>
          </a:p>
          <a:p>
            <a:pPr lvl="1"/>
            <a:r>
              <a:rPr lang="en-SG" dirty="0"/>
              <a:t>Selecting / reporting results for different mass ranges and chemical classes can be used to illustrate if a tool has differences in performance  </a:t>
            </a:r>
          </a:p>
        </p:txBody>
      </p:sp>
    </p:spTree>
    <p:extLst>
      <p:ext uri="{BB962C8B-B14F-4D97-AF65-F5344CB8AC3E}">
        <p14:creationId xmlns:p14="http://schemas.microsoft.com/office/powerpoint/2010/main" val="2108625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4BCD1-9414-DD23-9B12-F8242CCB5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Experiments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E7E08-F986-59CB-06EB-E42A93951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3618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8AD0-1851-AE25-8F20-94133A4D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Experiments performed to understand the limits of ML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116D-B39A-D688-27C8-6B1F4E491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Running of learning to split code to understand factors that limit generalizability of FP prediction with MS </a:t>
            </a:r>
          </a:p>
          <a:p>
            <a:r>
              <a:rPr lang="en-SG" dirty="0"/>
              <a:t>Running of SIRIUS software (SOTA for chemical structure elucidation with MS) with different preprocessing steps: 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9880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AE0B-F10F-B33B-2415-5AAE037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Modelling Noise in MSMS</a:t>
            </a:r>
          </a:p>
        </p:txBody>
      </p:sp>
    </p:spTree>
    <p:extLst>
      <p:ext uri="{BB962C8B-B14F-4D97-AF65-F5344CB8AC3E}">
        <p14:creationId xmlns:p14="http://schemas.microsoft.com/office/powerpoint/2010/main" val="2743357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9331-3A99-7020-2930-E5E807415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In-Source Fragmentation (ISF)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A1DC-C547-8F52-FD20-93D7A981B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8358" y="1825625"/>
            <a:ext cx="4385441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ISF as a source of noise: </a:t>
            </a:r>
          </a:p>
          <a:p>
            <a:pPr lvl="1"/>
            <a:r>
              <a:rPr lang="en-US" dirty="0"/>
              <a:t>Peaks are generated from fragments of the original molecule </a:t>
            </a:r>
          </a:p>
          <a:p>
            <a:pPr lvl="1"/>
            <a:r>
              <a:rPr lang="en-US" dirty="0"/>
              <a:t>MS that we observe from experiments is a forest instead of a tree</a:t>
            </a:r>
          </a:p>
          <a:p>
            <a:r>
              <a:rPr lang="en-US" dirty="0"/>
              <a:t>Current method to denoise: </a:t>
            </a:r>
          </a:p>
          <a:p>
            <a:pPr lvl="1"/>
            <a:r>
              <a:rPr lang="en-US" dirty="0"/>
              <a:t>Thresholding: remove peaks if the intensity falls below a certain 5% of the base peak</a:t>
            </a:r>
          </a:p>
          <a:p>
            <a:pPr lvl="1"/>
            <a:r>
              <a:rPr lang="en-US" dirty="0"/>
              <a:t>Convenient but insufficient to perform proper denoising; good threshold to set often varies greatly with instrument used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Question:</a:t>
            </a:r>
          </a:p>
          <a:p>
            <a:pPr lvl="1"/>
            <a:r>
              <a:rPr lang="en-US" dirty="0"/>
              <a:t>How can we use methods / algorithms from signal processing to denoise the MS? </a:t>
            </a:r>
          </a:p>
          <a:p>
            <a:pPr lvl="1"/>
            <a:r>
              <a:rPr lang="en-US" dirty="0"/>
              <a:t>Can we perhaps recover individual trees from the MS?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D1C4E-92D0-C2B2-3A0D-71718632C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15" y="1570797"/>
            <a:ext cx="6318586" cy="471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71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8AD0-1851-AE25-8F20-94133A4D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Signal Processing for Denoising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116D-B39A-D688-27C8-6B1F4E491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Start with a mathematical model representing the 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B1D332-11F6-83F2-FCAD-B09A62B93EAE}"/>
                  </a:ext>
                </a:extLst>
              </p:cNvPr>
              <p:cNvSpPr txBox="1"/>
              <p:nvPr/>
            </p:nvSpPr>
            <p:spPr>
              <a:xfrm>
                <a:off x="4533985" y="2813447"/>
                <a:ext cx="254762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SG" sz="4000" dirty="0"/>
                  <a:t>Y </a:t>
                </a:r>
                <a14:m>
                  <m:oMath xmlns:m="http://schemas.openxmlformats.org/officeDocument/2006/math">
                    <m:r>
                      <a:rPr lang="en-SG" sz="4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4000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SG" sz="4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4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4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SG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B1D332-11F6-83F2-FCAD-B09A62B93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85" y="2813447"/>
                <a:ext cx="2547620" cy="615553"/>
              </a:xfrm>
              <a:prstGeom prst="rect">
                <a:avLst/>
              </a:prstGeom>
              <a:blipFill>
                <a:blip r:embed="rId2"/>
                <a:stretch>
                  <a:fillRect l="-12201" t="-25743" b="-4851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7FCCBE9-1115-68F3-AD25-9A50009E9E75}"/>
              </a:ext>
            </a:extLst>
          </p:cNvPr>
          <p:cNvSpPr txBox="1"/>
          <p:nvPr/>
        </p:nvSpPr>
        <p:spPr>
          <a:xfrm>
            <a:off x="1772307" y="4199804"/>
            <a:ext cx="93581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Y: a vector of intensity for a list of masses for </a:t>
            </a:r>
            <a:r>
              <a:rPr lang="en-SG" sz="2400" b="1" i="1" dirty="0"/>
              <a:t>theoretically</a:t>
            </a:r>
            <a:r>
              <a:rPr lang="en-SG" sz="2400" dirty="0"/>
              <a:t> possible fragments</a:t>
            </a:r>
          </a:p>
          <a:p>
            <a:r>
              <a:rPr lang="en-SG" sz="2400" dirty="0"/>
              <a:t>x: a binary vector for </a:t>
            </a:r>
            <a:r>
              <a:rPr lang="en-SG" sz="2400" b="1" i="1" dirty="0"/>
              <a:t> chemically*</a:t>
            </a:r>
            <a:r>
              <a:rPr lang="en-SG" sz="2400" dirty="0"/>
              <a:t> possible fragments</a:t>
            </a:r>
          </a:p>
          <a:p>
            <a:r>
              <a:rPr lang="en-SG" sz="2400" dirty="0"/>
              <a:t>n: noise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B7409-4EB1-39D4-6944-CB57F08BED65}"/>
              </a:ext>
            </a:extLst>
          </p:cNvPr>
          <p:cNvSpPr txBox="1"/>
          <p:nvPr/>
        </p:nvSpPr>
        <p:spPr>
          <a:xfrm>
            <a:off x="838199" y="6127234"/>
            <a:ext cx="10662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* We can use molecular dynamics / quantum chemistry theories to obtain chemically possible fragments</a:t>
            </a:r>
          </a:p>
        </p:txBody>
      </p:sp>
    </p:spTree>
    <p:extLst>
      <p:ext uri="{BB962C8B-B14F-4D97-AF65-F5344CB8AC3E}">
        <p14:creationId xmlns:p14="http://schemas.microsoft.com/office/powerpoint/2010/main" val="778190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8AD0-1851-AE25-8F20-94133A4D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Signal Processing for Denoising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116D-B39A-D688-27C8-6B1F4E491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Modelling relationships between the fragments</a:t>
            </a:r>
          </a:p>
          <a:p>
            <a:pPr lvl="1"/>
            <a:r>
              <a:rPr lang="en-SG" b="1" dirty="0"/>
              <a:t>Sparse: </a:t>
            </a:r>
            <a:r>
              <a:rPr lang="en-SG" dirty="0"/>
              <a:t>there is a difference between </a:t>
            </a:r>
            <a:r>
              <a:rPr lang="en-SG" b="1" i="1" dirty="0"/>
              <a:t>theoretically possible </a:t>
            </a:r>
            <a:r>
              <a:rPr lang="en-SG" dirty="0"/>
              <a:t>and </a:t>
            </a:r>
            <a:r>
              <a:rPr lang="en-SG" b="1" i="1" dirty="0"/>
              <a:t>chemically possible </a:t>
            </a:r>
            <a:r>
              <a:rPr lang="en-SG" dirty="0"/>
              <a:t>fragments</a:t>
            </a:r>
          </a:p>
          <a:p>
            <a:pPr lvl="2"/>
            <a:r>
              <a:rPr lang="en-SG" dirty="0"/>
              <a:t>Some fragments are unstable and would bond with other fragments to form a stable compound </a:t>
            </a:r>
          </a:p>
          <a:p>
            <a:pPr lvl="2"/>
            <a:r>
              <a:rPr lang="en-SG" dirty="0"/>
              <a:t>Requires energy above bond dissociation energy for the bond to break </a:t>
            </a:r>
          </a:p>
          <a:p>
            <a:pPr lvl="1"/>
            <a:r>
              <a:rPr lang="en-SG" b="1" dirty="0"/>
              <a:t>Graph structure:</a:t>
            </a:r>
          </a:p>
          <a:p>
            <a:pPr lvl="2"/>
            <a:r>
              <a:rPr lang="en-SG" dirty="0"/>
              <a:t>Assumptions of fragmentation that occurs; tree structure? Subsets of formula?</a:t>
            </a:r>
          </a:p>
          <a:p>
            <a:pPr lvl="1"/>
            <a:endParaRPr lang="en-SG" b="1" dirty="0"/>
          </a:p>
          <a:p>
            <a:pPr lvl="2"/>
            <a:endParaRPr lang="en-SG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08229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E819-DE9B-62F0-EA2D-BB75BFB5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02205-E5C2-3A62-B7F6-481FEC52F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Add in MS2deepscore 2 as part of the analysis</a:t>
            </a:r>
          </a:p>
          <a:p>
            <a:r>
              <a:rPr lang="en-SG" dirty="0"/>
              <a:t>Reason for bad performance </a:t>
            </a:r>
          </a:p>
          <a:p>
            <a:r>
              <a:rPr lang="en-SG" dirty="0"/>
              <a:t>Pretrained model for MS </a:t>
            </a:r>
          </a:p>
          <a:p>
            <a:pPr lvl="1"/>
            <a:r>
              <a:rPr lang="en-SG" dirty="0"/>
              <a:t>Invariance and a different unsupervised task </a:t>
            </a:r>
          </a:p>
          <a:p>
            <a:pPr lvl="2"/>
            <a:r>
              <a:rPr lang="en-SG" dirty="0"/>
              <a:t>Denoising </a:t>
            </a:r>
          </a:p>
          <a:p>
            <a:pPr lvl="2"/>
            <a:endParaRPr lang="en-SG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049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23076</TotalTime>
  <Words>1511</Words>
  <Application>Microsoft Office PowerPoint</Application>
  <PresentationFormat>Widescreen</PresentationFormat>
  <Paragraphs>151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 Math</vt:lpstr>
      <vt:lpstr>Office Theme</vt:lpstr>
      <vt:lpstr>Research Updates</vt:lpstr>
      <vt:lpstr>Understanding the Limits of Modelling MSMS with ML</vt:lpstr>
      <vt:lpstr>High Resolution Liquid Chromatography - Mass Spectrometry</vt:lpstr>
      <vt:lpstr>Paper Motivation</vt:lpstr>
      <vt:lpstr>Current Workflow for ML Methods for MS</vt:lpstr>
      <vt:lpstr>Dataset used for analysis</vt:lpstr>
      <vt:lpstr>Research Questions</vt:lpstr>
      <vt:lpstr>Percentage of mismatched MS</vt:lpstr>
      <vt:lpstr>Paper Motivation</vt:lpstr>
      <vt:lpstr>Experimental Results</vt:lpstr>
      <vt:lpstr>Experimental Results</vt:lpstr>
      <vt:lpstr>Research Questions</vt:lpstr>
      <vt:lpstr>Research Questions</vt:lpstr>
      <vt:lpstr>Research Questions</vt:lpstr>
      <vt:lpstr>Research Questions</vt:lpstr>
      <vt:lpstr>Limitation of ML methods; Consolidated Arguments Made by Other Papers</vt:lpstr>
      <vt:lpstr>Limitation of ML methods; Consolidated Arguments Made by Other Papers</vt:lpstr>
      <vt:lpstr>Limitation of ML methods; Consolidated Arguments Made by Other Papers</vt:lpstr>
      <vt:lpstr>Limitation of ML methods; Consolidated Arguments Made by Other Papers</vt:lpstr>
      <vt:lpstr>Limitation of ML methods; Consolidated Arguments Made by Other Papers</vt:lpstr>
      <vt:lpstr>Experiments</vt:lpstr>
      <vt:lpstr>Experiments performed to understand the limits of ML methods</vt:lpstr>
      <vt:lpstr>Modelling Noise in MSMS</vt:lpstr>
      <vt:lpstr>In-Source Fragmentation (ISF)</vt:lpstr>
      <vt:lpstr>Signal Processing for Denoising</vt:lpstr>
      <vt:lpstr>Signal Processing for Denoising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Chemical Structure Elucidation with Mass Spectrometry </dc:title>
  <dc:creator>Serena khoo</dc:creator>
  <cp:lastModifiedBy>Serena Khoo</cp:lastModifiedBy>
  <cp:revision>1569</cp:revision>
  <dcterms:created xsi:type="dcterms:W3CDTF">2024-02-05T20:16:08Z</dcterms:created>
  <dcterms:modified xsi:type="dcterms:W3CDTF">2024-08-29T22:27:45Z</dcterms:modified>
</cp:coreProperties>
</file>